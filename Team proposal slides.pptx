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DC65E1-FC8C-4101-ABEE-F71B981EF63C}">
  <a:tblStyle styleId="{EDDC65E1-FC8C-4101-ABEE-F71B981EF6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16b5fa8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b16b5fa8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b16b5fa8c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b16b5fa8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b16b5fa8c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b16b5fa8c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Model and Data Resources. Left: the two OBI/Blue Brain L5PC e-models we extend - neither ships with Kv7.2, which is exactly the gap Task 1 fills. Right: Simkin et al. (2021) supplies both halves of the evidence - CHO voltage-clamp data to fit the channel, and iPSC current-clamp data to validate the resulting firing phenotype. Bottom: everything is built and analysed on the OBI platform with eFEL for feature extraction.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b16b5fa8c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b16b5fa8c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fceb0b62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9fceb0b62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fceb0b62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9fceb0b62_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b16b5fa8c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b16b5fa8c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9fceb0b62_3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9fceb0b62_3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uromatch Academ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/>
        </p:nvSpPr>
        <p:spPr>
          <a:xfrm>
            <a:off x="90550" y="4751350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/>
              <a:t>Mechanistic Modelling of R581Q Mutation in Human and Mouse Layer 5 Pyramidal Neurons</a:t>
            </a:r>
            <a:endParaRPr b="1"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900"/>
          </a:p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Aman Ki Aasha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9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D9D9D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1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we built this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Professional Development Session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14" name="Google Shape;114;p22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3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3" name="Google Shape;153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" name="Google Shape;16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4" name="Google Shape;16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8" name="Google Shape;168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9" name="Google Shape;169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73" name="Google Shape;1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6" name="Google Shape;176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type="ctrTitle"/>
          </p:nvPr>
        </p:nvSpPr>
        <p:spPr>
          <a:xfrm>
            <a:off x="510450" y="1257300"/>
            <a:ext cx="85140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ISP OBI Project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7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By: Rubaisha Ahmed, Simel Masood, Koelgeet Kaur, Mehreen Mansoor, Kumail Haider, and Siddharth Kashyap</a:t>
            </a:r>
            <a:endParaRPr sz="2200"/>
          </a:p>
        </p:txBody>
      </p:sp>
      <p:sp>
        <p:nvSpPr>
          <p:cNvPr id="184" name="Google Shape;184;p37"/>
          <p:cNvSpPr txBox="1"/>
          <p:nvPr/>
        </p:nvSpPr>
        <p:spPr>
          <a:xfrm>
            <a:off x="438825" y="1537050"/>
            <a:ext cx="8374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900">
                <a:solidFill>
                  <a:srgbClr val="FFFFFF"/>
                </a:solidFill>
              </a:rPr>
              <a:t>Mechanistic Modeling of the KCNQ2 R581Q Mutation in Mouse and Human Layer 5 Pyramidal Neurons </a:t>
            </a:r>
            <a:endParaRPr b="1" i="1"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/>
          <p:nvPr/>
        </p:nvSpPr>
        <p:spPr>
          <a:xfrm>
            <a:off x="0" y="0"/>
            <a:ext cx="9144000" cy="4818900"/>
          </a:xfrm>
          <a:prstGeom prst="rect">
            <a:avLst/>
          </a:prstGeom>
          <a:solidFill>
            <a:srgbClr val="1D27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9"/>
          <p:cNvSpPr/>
          <p:nvPr/>
        </p:nvSpPr>
        <p:spPr>
          <a:xfrm>
            <a:off x="7498079" y="45720"/>
            <a:ext cx="1097400" cy="1097400"/>
          </a:xfrm>
          <a:prstGeom prst="ellipse">
            <a:avLst/>
          </a:prstGeom>
          <a:solidFill>
            <a:srgbClr val="253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7" name="Google Shape;1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109728"/>
            <a:ext cx="914401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9"/>
          <p:cNvSpPr txBox="1"/>
          <p:nvPr/>
        </p:nvSpPr>
        <p:spPr>
          <a:xfrm>
            <a:off x="502920" y="365760"/>
            <a:ext cx="603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F5F5F5"/>
                </a:solidFill>
              </a:rPr>
              <a:t>Model and Data Resources</a:t>
            </a:r>
            <a:endParaRPr/>
          </a:p>
        </p:txBody>
      </p:sp>
      <p:sp>
        <p:nvSpPr>
          <p:cNvPr id="199" name="Google Shape;199;p39"/>
          <p:cNvSpPr txBox="1"/>
          <p:nvPr/>
        </p:nvSpPr>
        <p:spPr>
          <a:xfrm>
            <a:off x="502920" y="859536"/>
            <a:ext cx="8138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5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Two validated L5PC e-models, neither containing Kv7.2 — and the data used to build and validate it.</a:t>
            </a:r>
            <a:endParaRPr/>
          </a:p>
        </p:txBody>
      </p:sp>
      <p:sp>
        <p:nvSpPr>
          <p:cNvPr id="200" name="Google Shape;200;p39"/>
          <p:cNvSpPr txBox="1"/>
          <p:nvPr/>
        </p:nvSpPr>
        <p:spPr>
          <a:xfrm>
            <a:off x="502920" y="1280160"/>
            <a:ext cx="379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NEURON MODELS  ·  simulation targets</a:t>
            </a:r>
            <a:endParaRPr/>
          </a:p>
        </p:txBody>
      </p:sp>
      <p:sp>
        <p:nvSpPr>
          <p:cNvPr id="201" name="Google Shape;201;p39"/>
          <p:cNvSpPr txBox="1"/>
          <p:nvPr/>
        </p:nvSpPr>
        <p:spPr>
          <a:xfrm>
            <a:off x="4846320" y="1280160"/>
            <a:ext cx="379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REFERENCE DATA  ·  Simkin et al., 2021</a:t>
            </a:r>
            <a:endParaRPr/>
          </a:p>
        </p:txBody>
      </p:sp>
      <p:sp>
        <p:nvSpPr>
          <p:cNvPr id="202" name="Google Shape;202;p39"/>
          <p:cNvSpPr/>
          <p:nvPr/>
        </p:nvSpPr>
        <p:spPr>
          <a:xfrm>
            <a:off x="502920" y="1517904"/>
            <a:ext cx="3794700" cy="987600"/>
          </a:xfrm>
          <a:prstGeom prst="roundRect">
            <a:avLst>
              <a:gd fmla="val 6000" name="adj"/>
            </a:avLst>
          </a:prstGeom>
          <a:solidFill>
            <a:srgbClr val="253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9"/>
          <p:cNvSpPr txBox="1"/>
          <p:nvPr/>
        </p:nvSpPr>
        <p:spPr>
          <a:xfrm>
            <a:off x="667512" y="1645919"/>
            <a:ext cx="34656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MOUSE  ·  Open Brain Institute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Mouse/rat L5PC, cADpyr e-type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E8EBEC"/>
                </a:solidFill>
                <a:latin typeface="Arial"/>
                <a:ea typeface="Arial"/>
                <a:cs typeface="Arial"/>
                <a:sym typeface="Arial"/>
              </a:rPr>
              <a:t>EM__sscxrat__cADpyr_L5TPC__0 — reconstructed morphology plus ion-channel mechanisms fitted by multi-objective optimisation.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Role: cross-species generalisation test</a:t>
            </a:r>
            <a:endParaRPr/>
          </a:p>
        </p:txBody>
      </p:sp>
      <p:sp>
        <p:nvSpPr>
          <p:cNvPr id="204" name="Google Shape;204;p39"/>
          <p:cNvSpPr/>
          <p:nvPr/>
        </p:nvSpPr>
        <p:spPr>
          <a:xfrm>
            <a:off x="502920" y="2615184"/>
            <a:ext cx="3794700" cy="987600"/>
          </a:xfrm>
          <a:prstGeom prst="roundRect">
            <a:avLst>
              <a:gd fmla="val 6000" name="adj"/>
            </a:avLst>
          </a:prstGeom>
          <a:solidFill>
            <a:srgbClr val="253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9"/>
          <p:cNvSpPr txBox="1"/>
          <p:nvPr/>
        </p:nvSpPr>
        <p:spPr>
          <a:xfrm>
            <a:off x="667512" y="2743200"/>
            <a:ext cx="34656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HUMAN  ·  Blue Brain Project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Human L5PC, cADpyr e-type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E8EBEC"/>
                </a:solidFill>
                <a:latin typeface="Arial"/>
                <a:ea typeface="Arial"/>
                <a:cs typeface="Arial"/>
                <a:sym typeface="Arial"/>
              </a:rPr>
              <a:t>BluePyOpt l5pc optimisation example — github.com/BlueBrain/BluePyOpt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Role: direct validation target for Simkin et al. firing data</a:t>
            </a:r>
            <a:endParaRPr/>
          </a:p>
        </p:txBody>
      </p:sp>
      <p:sp>
        <p:nvSpPr>
          <p:cNvPr id="206" name="Google Shape;206;p39"/>
          <p:cNvSpPr/>
          <p:nvPr/>
        </p:nvSpPr>
        <p:spPr>
          <a:xfrm>
            <a:off x="4846320" y="1517904"/>
            <a:ext cx="3794700" cy="987600"/>
          </a:xfrm>
          <a:prstGeom prst="roundRect">
            <a:avLst>
              <a:gd fmla="val 6000" name="adj"/>
            </a:avLst>
          </a:prstGeom>
          <a:solidFill>
            <a:srgbClr val="253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9"/>
          <p:cNvSpPr txBox="1"/>
          <p:nvPr/>
        </p:nvSpPr>
        <p:spPr>
          <a:xfrm>
            <a:off x="5010912" y="1645919"/>
            <a:ext cx="34656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CHANNEL LEVEL  ·  CHO cells, 35°C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Kv7.2/Kv7.3 voltage clamp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E8EBEC"/>
                </a:solidFill>
                <a:latin typeface="Arial"/>
                <a:ea typeface="Arial"/>
                <a:cs typeface="Arial"/>
                <a:sym typeface="Arial"/>
              </a:rPr>
              <a:t>WT and R581Q → current density, V½, slope factor k, activation 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Role: constrains the Hodgkin-Huxley Kv7.2 fit</a:t>
            </a:r>
            <a:endParaRPr/>
          </a:p>
        </p:txBody>
      </p:sp>
      <p:sp>
        <p:nvSpPr>
          <p:cNvPr id="208" name="Google Shape;208;p39"/>
          <p:cNvSpPr/>
          <p:nvPr/>
        </p:nvSpPr>
        <p:spPr>
          <a:xfrm>
            <a:off x="4846320" y="2615184"/>
            <a:ext cx="3794700" cy="987600"/>
          </a:xfrm>
          <a:prstGeom prst="roundRect">
            <a:avLst>
              <a:gd fmla="val 6000" name="adj"/>
            </a:avLst>
          </a:prstGeom>
          <a:solidFill>
            <a:srgbClr val="253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9"/>
          <p:cNvSpPr txBox="1"/>
          <p:nvPr/>
        </p:nvSpPr>
        <p:spPr>
          <a:xfrm>
            <a:off x="5010912" y="2743200"/>
            <a:ext cx="34656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NEURON LEVEL  ·  iPSC-derived cortical neurons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Current clamp, patient vs isogenic control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E8EBEC"/>
                </a:solidFill>
                <a:latin typeface="Arial"/>
                <a:ea typeface="Arial"/>
                <a:cs typeface="Arial"/>
                <a:sym typeface="Arial"/>
              </a:rPr>
              <a:t>R581Q → AP half-width, fAHP / mAHP / sAHP, RMP, burst-firing metrics.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Role: ground-truth phenotype the model must reproduce</a:t>
            </a:r>
            <a:endParaRPr/>
          </a:p>
        </p:txBody>
      </p:sp>
      <p:sp>
        <p:nvSpPr>
          <p:cNvPr id="210" name="Google Shape;210;p39"/>
          <p:cNvSpPr/>
          <p:nvPr/>
        </p:nvSpPr>
        <p:spPr>
          <a:xfrm>
            <a:off x="502920" y="3749039"/>
            <a:ext cx="8138100" cy="9600"/>
          </a:xfrm>
          <a:prstGeom prst="rect">
            <a:avLst/>
          </a:prstGeom>
          <a:solidFill>
            <a:srgbClr val="3A46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9"/>
          <p:cNvSpPr txBox="1"/>
          <p:nvPr/>
        </p:nvSpPr>
        <p:spPr>
          <a:xfrm>
            <a:off x="502920" y="3858768"/>
            <a:ext cx="4114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PLATFORM &amp; TOOLS</a:t>
            </a:r>
            <a:endParaRPr/>
          </a:p>
        </p:txBody>
      </p:sp>
      <p:sp>
        <p:nvSpPr>
          <p:cNvPr id="212" name="Google Shape;212;p39"/>
          <p:cNvSpPr/>
          <p:nvPr/>
        </p:nvSpPr>
        <p:spPr>
          <a:xfrm>
            <a:off x="502920" y="4069080"/>
            <a:ext cx="2499000" cy="384000"/>
          </a:xfrm>
          <a:prstGeom prst="roundRect">
            <a:avLst>
              <a:gd fmla="val 1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502920" y="4155948"/>
            <a:ext cx="249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D2729"/>
                </a:solidFill>
                <a:latin typeface="Arial"/>
                <a:ea typeface="Arial"/>
                <a:cs typeface="Arial"/>
                <a:sym typeface="Arial"/>
              </a:rPr>
              <a:t>Open Brain Institute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502920" y="4517136"/>
            <a:ext cx="24990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Model building, simulation campaigns, parameter sweeps</a:t>
            </a:r>
            <a:endParaRPr/>
          </a:p>
        </p:txBody>
      </p:sp>
      <p:sp>
        <p:nvSpPr>
          <p:cNvPr id="215" name="Google Shape;215;p39"/>
          <p:cNvSpPr/>
          <p:nvPr/>
        </p:nvSpPr>
        <p:spPr>
          <a:xfrm>
            <a:off x="3322015" y="4069080"/>
            <a:ext cx="2499000" cy="384000"/>
          </a:xfrm>
          <a:prstGeom prst="roundRect">
            <a:avLst>
              <a:gd fmla="val 1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3322015" y="4155948"/>
            <a:ext cx="249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D2729"/>
                </a:solidFill>
                <a:latin typeface="Arial"/>
                <a:ea typeface="Arial"/>
                <a:cs typeface="Arial"/>
                <a:sym typeface="Arial"/>
              </a:rPr>
              <a:t>Blue Brain Project (H</a:t>
            </a:r>
            <a:r>
              <a:rPr b="1" lang="en" sz="1000">
                <a:solidFill>
                  <a:srgbClr val="1D2729"/>
                </a:solidFill>
              </a:rPr>
              <a:t>uman L5PC and </a:t>
            </a:r>
            <a:r>
              <a:rPr b="1" lang="en" sz="1000">
                <a:solidFill>
                  <a:srgbClr val="1D2729"/>
                </a:solidFill>
              </a:rPr>
              <a:t>eFEL Library)</a:t>
            </a:r>
            <a:endParaRPr sz="1000"/>
          </a:p>
        </p:txBody>
      </p:sp>
      <p:sp>
        <p:nvSpPr>
          <p:cNvPr id="217" name="Google Shape;217;p39"/>
          <p:cNvSpPr txBox="1"/>
          <p:nvPr/>
        </p:nvSpPr>
        <p:spPr>
          <a:xfrm>
            <a:off x="3322015" y="4517136"/>
            <a:ext cx="24990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Human L5PC model and supporting libraries</a:t>
            </a:r>
            <a:endParaRPr/>
          </a:p>
        </p:txBody>
      </p:sp>
      <p:sp>
        <p:nvSpPr>
          <p:cNvPr id="218" name="Google Shape;218;p39"/>
          <p:cNvSpPr/>
          <p:nvPr/>
        </p:nvSpPr>
        <p:spPr>
          <a:xfrm>
            <a:off x="6141110" y="4069080"/>
            <a:ext cx="2499000" cy="384000"/>
          </a:xfrm>
          <a:prstGeom prst="roundRect">
            <a:avLst>
              <a:gd fmla="val 1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9"/>
          <p:cNvSpPr txBox="1"/>
          <p:nvPr/>
        </p:nvSpPr>
        <p:spPr>
          <a:xfrm>
            <a:off x="6141110" y="4155948"/>
            <a:ext cx="249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D2729"/>
                </a:solidFill>
              </a:rPr>
              <a:t>Jupyter Notebooks and </a:t>
            </a:r>
            <a:r>
              <a:rPr b="1" lang="en" sz="1100">
                <a:solidFill>
                  <a:srgbClr val="1D2729"/>
                </a:solidFill>
              </a:rPr>
              <a:t>Colab  Pro</a:t>
            </a:r>
            <a:endParaRPr/>
          </a:p>
        </p:txBody>
      </p:sp>
      <p:sp>
        <p:nvSpPr>
          <p:cNvPr id="220" name="Google Shape;220;p39"/>
          <p:cNvSpPr txBox="1"/>
          <p:nvPr/>
        </p:nvSpPr>
        <p:spPr>
          <a:xfrm>
            <a:off x="3322035" y="4668024"/>
            <a:ext cx="24990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BEC6C8"/>
                </a:solidFill>
                <a:latin typeface="Arial"/>
                <a:ea typeface="Arial"/>
                <a:cs typeface="Arial"/>
                <a:sym typeface="Arial"/>
              </a:rPr>
              <a:t>Electrophysiology feature extraction from simulated traces</a:t>
            </a:r>
            <a:endParaRPr/>
          </a:p>
        </p:txBody>
      </p:sp>
      <p:sp>
        <p:nvSpPr>
          <p:cNvPr id="221" name="Google Shape;221;p39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9"/>
          <p:cNvSpPr txBox="1"/>
          <p:nvPr/>
        </p:nvSpPr>
        <p:spPr>
          <a:xfrm>
            <a:off x="228600" y="4919472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Mechanistic Modelling of R581Q Mutation in Human and Mouse L5PCs</a:t>
            </a:r>
            <a:endParaRPr/>
          </a:p>
        </p:txBody>
      </p:sp>
      <p:sp>
        <p:nvSpPr>
          <p:cNvPr id="223" name="Google Shape;223;p39"/>
          <p:cNvSpPr txBox="1"/>
          <p:nvPr/>
        </p:nvSpPr>
        <p:spPr>
          <a:xfrm>
            <a:off x="6446520" y="4919472"/>
            <a:ext cx="24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Aman Ki Aasha</a:t>
            </a:r>
            <a:endParaRPr/>
          </a:p>
        </p:txBody>
      </p:sp>
      <p:pic>
        <p:nvPicPr>
          <p:cNvPr descr="image.png" id="224" name="Google Shape;2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4846320"/>
            <a:ext cx="292607" cy="29260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9"/>
          <p:cNvSpPr txBox="1"/>
          <p:nvPr/>
        </p:nvSpPr>
        <p:spPr>
          <a:xfrm>
            <a:off x="6141115" y="4513536"/>
            <a:ext cx="24990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BEC6C8"/>
                </a:solidFill>
              </a:rPr>
              <a:t>For further Analysis</a:t>
            </a:r>
            <a:endParaRPr sz="760">
              <a:solidFill>
                <a:srgbClr val="BEC6C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Methodology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Channel Level Validation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411475" y="1804050"/>
            <a:ext cx="35922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Fit the Kv7.2 model to CHO voltage-clamp data using OBI's multi-objective evolutionary algorithm, which optimizes V½, k, and τ simultaneously across all recorded voltage steps (−60 to +40 mV), rather than fitting one voltage at a time.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40"/>
          <p:cNvCxnSpPr/>
          <p:nvPr/>
        </p:nvCxnSpPr>
        <p:spPr>
          <a:xfrm>
            <a:off x="411475" y="1658775"/>
            <a:ext cx="3602700" cy="9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40"/>
          <p:cNvSpPr txBox="1"/>
          <p:nvPr/>
        </p:nvSpPr>
        <p:spPr>
          <a:xfrm>
            <a:off x="516600" y="3019339"/>
            <a:ext cx="39582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Fit quality assessed via:</a:t>
            </a:r>
            <a:endParaRPr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Residuals per voltage step 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Activation curve (G-V) comparisons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τ (activation time constant) vs. voltage comparisons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Sanity checks on final V½, k, τ against biophysical bounds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4572000" y="1152475"/>
            <a:ext cx="408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 startAt="2"/>
            </a:pPr>
            <a:r>
              <a:rPr lang="en">
                <a:solidFill>
                  <a:schemeClr val="lt1"/>
                </a:solidFill>
              </a:rPr>
              <a:t>Single-Cell Excitability Features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6" name="Google Shape;236;p40"/>
          <p:cNvSpPr txBox="1"/>
          <p:nvPr/>
        </p:nvSpPr>
        <p:spPr>
          <a:xfrm>
            <a:off x="4671775" y="1804050"/>
            <a:ext cx="3592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Extracted via eFEL from control and mutant current-clamp simulations: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40"/>
          <p:cNvCxnSpPr/>
          <p:nvPr/>
        </p:nvCxnSpPr>
        <p:spPr>
          <a:xfrm>
            <a:off x="4671775" y="1658775"/>
            <a:ext cx="3855000" cy="9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40"/>
          <p:cNvSpPr txBox="1"/>
          <p:nvPr/>
        </p:nvSpPr>
        <p:spPr>
          <a:xfrm>
            <a:off x="4648332" y="2714811"/>
            <a:ext cx="33114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Rheobase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 resistance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 amplitude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 AHP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Slow AHP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ISI CV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F-I gain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 threshold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 AHP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Spike-frequency adaptation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Burst index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Methodology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 startAt="3"/>
            </a:pPr>
            <a:r>
              <a:rPr lang="en">
                <a:solidFill>
                  <a:schemeClr val="lt1"/>
                </a:solidFill>
              </a:rPr>
              <a:t>Sensitivity Analysis: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411475" y="1713813"/>
            <a:ext cx="3592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factorial gₖᵥ₇.₂ × g</a:t>
            </a:r>
            <a:r>
              <a:rPr baseline="-25000"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× g</a:t>
            </a:r>
            <a:r>
              <a:rPr baseline="-25000"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BK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sweep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41"/>
          <p:cNvCxnSpPr/>
          <p:nvPr/>
        </p:nvCxnSpPr>
        <p:spPr>
          <a:xfrm>
            <a:off x="411475" y="1658775"/>
            <a:ext cx="3602700" cy="9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4572000" y="1152475"/>
            <a:ext cx="408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 startAt="4"/>
            </a:pPr>
            <a:r>
              <a:rPr lang="en">
                <a:solidFill>
                  <a:schemeClr val="lt1"/>
                </a:solidFill>
              </a:rPr>
              <a:t>Cross-Species Comparison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41"/>
          <p:cNvSpPr txBox="1"/>
          <p:nvPr/>
        </p:nvSpPr>
        <p:spPr>
          <a:xfrm>
            <a:off x="4671775" y="1752389"/>
            <a:ext cx="40821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Identical stimulus, temperature, and channel models applied to mouse and human. % change computed per species and compared directly: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Δ feature (%) = (feature_mutant − feature_WT) × 100     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feature_WT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41"/>
          <p:cNvCxnSpPr/>
          <p:nvPr/>
        </p:nvCxnSpPr>
        <p:spPr>
          <a:xfrm>
            <a:off x="4671775" y="1658775"/>
            <a:ext cx="3855000" cy="9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0" name="Google Shape;250;p41"/>
          <p:cNvGraphicFramePr/>
          <p:nvPr/>
        </p:nvGraphicFramePr>
        <p:xfrm>
          <a:off x="394335" y="22043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{EDDC65E1-FC8C-4101-ABEE-F71B981EF63C}</a:tableStyleId>
              </a:tblPr>
              <a:tblGrid>
                <a:gridCol w="732225"/>
                <a:gridCol w="1518350"/>
                <a:gridCol w="1369275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chemeClr val="lt1"/>
                          </a:solidFill>
                        </a:rPr>
                        <a:t>Channel</a:t>
                      </a:r>
                      <a:endParaRPr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chemeClr val="lt1"/>
                          </a:solidFill>
                        </a:rPr>
                        <a:t>Values swept</a:t>
                      </a:r>
                      <a:endParaRPr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chemeClr val="lt1"/>
                          </a:solidFill>
                        </a:rPr>
                        <a:t>Source</a:t>
                      </a:r>
                      <a:endParaRPr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23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lt1"/>
                          </a:solidFill>
                        </a:rPr>
                        <a:t>g_Kv7.2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</a:rPr>
                        <a:t>100% (WT), 70%, 43% (R581Q), 20%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</a:rPr>
                        <a:t>43% = current density reduction, Simkin et al. Fig. 1B; 70%/20% exploratory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lt1"/>
                          </a:solidFill>
                        </a:rPr>
                        <a:t>g_SK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</a:rPr>
                        <a:t>100% (WT), ~122% (wk3, KCNN4), ~116–139% (wk5, KCNN1/KCNN2)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</a:rPr>
                        <a:t>qPCR fold-change, Simkin et al. Fig. 4 source data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lt1"/>
                          </a:solidFill>
                        </a:rPr>
                        <a:t>g_BK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</a:rPr>
                        <a:t>100% (WT), ~117% (wk3, KCNMA1), ~123% (wk5, KCNMB3)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</a:rPr>
                        <a:t>qPCR fold-change, Simkin et al. Fig. 4 source data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50800" marB="50800" marR="101600" marL="101600" anchor="ctr">
                    <a:lnL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729"/>
                    </a:solidFill>
                  </a:tcPr>
                </a:tc>
              </a:tr>
            </a:tbl>
          </a:graphicData>
        </a:graphic>
      </p:graphicFrame>
      <p:cxnSp>
        <p:nvCxnSpPr>
          <p:cNvPr id="251" name="Google Shape;251;p41"/>
          <p:cNvCxnSpPr/>
          <p:nvPr/>
        </p:nvCxnSpPr>
        <p:spPr>
          <a:xfrm>
            <a:off x="5773574" y="2764414"/>
            <a:ext cx="2584500" cy="1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4560004" y="3008175"/>
            <a:ext cx="408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 startAt="5"/>
            </a:pPr>
            <a:r>
              <a:rPr lang="en">
                <a:solidFill>
                  <a:schemeClr val="lt1"/>
                </a:solidFill>
              </a:rPr>
              <a:t>Model-to-Experiment Validation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4659779" y="3608089"/>
            <a:ext cx="40821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Simulated AP half-width, fAHP, mAHP, sAHP, RMP, and input resistance benchmarked against Simkin et al. (2021, Table 1) at a single consistent timepoint (week 5).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41"/>
          <p:cNvCxnSpPr/>
          <p:nvPr/>
        </p:nvCxnSpPr>
        <p:spPr>
          <a:xfrm>
            <a:off x="4659779" y="3514475"/>
            <a:ext cx="3855000" cy="9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272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2"/>
          <p:cNvSpPr txBox="1"/>
          <p:nvPr/>
        </p:nvSpPr>
        <p:spPr>
          <a:xfrm>
            <a:off x="502920" y="384048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Plan</a:t>
            </a:r>
            <a:endParaRPr sz="2800"/>
          </a:p>
        </p:txBody>
      </p:sp>
      <p:sp>
        <p:nvSpPr>
          <p:cNvPr id="261" name="Google Shape;261;p42"/>
          <p:cNvSpPr/>
          <p:nvPr/>
        </p:nvSpPr>
        <p:spPr>
          <a:xfrm>
            <a:off x="658368" y="2331720"/>
            <a:ext cx="7726800" cy="15300"/>
          </a:xfrm>
          <a:prstGeom prst="rect">
            <a:avLst/>
          </a:prstGeom>
          <a:solidFill>
            <a:srgbClr val="69767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2"/>
          <p:cNvSpPr/>
          <p:nvPr/>
        </p:nvSpPr>
        <p:spPr>
          <a:xfrm>
            <a:off x="868680" y="2185416"/>
            <a:ext cx="292500" cy="292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C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868680" y="2221992"/>
            <a:ext cx="29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4" name="Google Shape;264;p42"/>
          <p:cNvSpPr/>
          <p:nvPr/>
        </p:nvSpPr>
        <p:spPr>
          <a:xfrm>
            <a:off x="2487168" y="2185416"/>
            <a:ext cx="292500" cy="292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C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2"/>
          <p:cNvSpPr txBox="1"/>
          <p:nvPr/>
        </p:nvSpPr>
        <p:spPr>
          <a:xfrm>
            <a:off x="2487168" y="2221992"/>
            <a:ext cx="29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6" name="Google Shape;266;p42"/>
          <p:cNvSpPr/>
          <p:nvPr/>
        </p:nvSpPr>
        <p:spPr>
          <a:xfrm>
            <a:off x="4105656" y="2185416"/>
            <a:ext cx="292500" cy="292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C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2"/>
          <p:cNvSpPr txBox="1"/>
          <p:nvPr/>
        </p:nvSpPr>
        <p:spPr>
          <a:xfrm>
            <a:off x="4105656" y="2221992"/>
            <a:ext cx="29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8" name="Google Shape;268;p42"/>
          <p:cNvSpPr/>
          <p:nvPr/>
        </p:nvSpPr>
        <p:spPr>
          <a:xfrm>
            <a:off x="5724144" y="2185416"/>
            <a:ext cx="292500" cy="292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C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5724144" y="2221992"/>
            <a:ext cx="29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0" name="Google Shape;270;p42"/>
          <p:cNvSpPr/>
          <p:nvPr/>
        </p:nvSpPr>
        <p:spPr>
          <a:xfrm>
            <a:off x="7342631" y="2185416"/>
            <a:ext cx="292500" cy="292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C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2"/>
          <p:cNvSpPr txBox="1"/>
          <p:nvPr/>
        </p:nvSpPr>
        <p:spPr>
          <a:xfrm>
            <a:off x="7342631" y="2221992"/>
            <a:ext cx="29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72" name="Google Shape;272;p42"/>
          <p:cNvSpPr txBox="1"/>
          <p:nvPr/>
        </p:nvSpPr>
        <p:spPr>
          <a:xfrm>
            <a:off x="685800" y="1225296"/>
            <a:ext cx="1143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0" u="none" cap="none" strike="noStrike">
                <a:solidFill>
                  <a:srgbClr val="D6DFE2"/>
                </a:solidFill>
                <a:latin typeface="Arial"/>
                <a:ea typeface="Arial"/>
                <a:cs typeface="Arial"/>
                <a:sym typeface="Arial"/>
              </a:rPr>
              <a:t>Month 1</a:t>
            </a:r>
            <a:endParaRPr/>
          </a:p>
        </p:txBody>
      </p:sp>
      <p:sp>
        <p:nvSpPr>
          <p:cNvPr id="273" name="Google Shape;273;p42"/>
          <p:cNvSpPr txBox="1"/>
          <p:nvPr/>
        </p:nvSpPr>
        <p:spPr>
          <a:xfrm>
            <a:off x="685800" y="1371600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/>
          </a:p>
        </p:txBody>
      </p:sp>
      <p:sp>
        <p:nvSpPr>
          <p:cNvPr id="274" name="Google Shape;274;p42"/>
          <p:cNvSpPr txBox="1"/>
          <p:nvPr/>
        </p:nvSpPr>
        <p:spPr>
          <a:xfrm>
            <a:off x="685800" y="1682496"/>
            <a:ext cx="1600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OBI model inspection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data preparation</a:t>
            </a:r>
            <a:endParaRPr/>
          </a:p>
        </p:txBody>
      </p:sp>
      <p:sp>
        <p:nvSpPr>
          <p:cNvPr id="275" name="Google Shape;275;p42"/>
          <p:cNvSpPr txBox="1"/>
          <p:nvPr/>
        </p:nvSpPr>
        <p:spPr>
          <a:xfrm>
            <a:off x="3904487" y="1225296"/>
            <a:ext cx="1143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0" u="none" cap="none" strike="noStrike">
                <a:solidFill>
                  <a:srgbClr val="D6DFE2"/>
                </a:solidFill>
                <a:latin typeface="Arial"/>
                <a:ea typeface="Arial"/>
                <a:cs typeface="Arial"/>
                <a:sym typeface="Arial"/>
              </a:rPr>
              <a:t>Months 3–4</a:t>
            </a:r>
            <a:endParaRPr/>
          </a:p>
        </p:txBody>
      </p:sp>
      <p:sp>
        <p:nvSpPr>
          <p:cNvPr id="276" name="Google Shape;276;p42"/>
          <p:cNvSpPr txBox="1"/>
          <p:nvPr/>
        </p:nvSpPr>
        <p:spPr>
          <a:xfrm>
            <a:off x="3904487" y="1371600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integration</a:t>
            </a:r>
            <a:endParaRPr/>
          </a:p>
        </p:txBody>
      </p:sp>
      <p:sp>
        <p:nvSpPr>
          <p:cNvPr id="277" name="Google Shape;277;p42"/>
          <p:cNvSpPr txBox="1"/>
          <p:nvPr/>
        </p:nvSpPr>
        <p:spPr>
          <a:xfrm>
            <a:off x="3904487" y="1682496"/>
            <a:ext cx="16002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formulation for other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channels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Mouse/human L5PC integration</a:t>
            </a:r>
            <a:endParaRPr/>
          </a:p>
        </p:txBody>
      </p:sp>
      <p:sp>
        <p:nvSpPr>
          <p:cNvPr id="278" name="Google Shape;278;p42"/>
          <p:cNvSpPr txBox="1"/>
          <p:nvPr/>
        </p:nvSpPr>
        <p:spPr>
          <a:xfrm>
            <a:off x="7150608" y="1225296"/>
            <a:ext cx="1143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0" u="none" cap="none" strike="noStrike">
                <a:solidFill>
                  <a:srgbClr val="D6DFE2"/>
                </a:solidFill>
                <a:latin typeface="Arial"/>
                <a:ea typeface="Arial"/>
                <a:cs typeface="Arial"/>
                <a:sym typeface="Arial"/>
              </a:rPr>
              <a:t>Months 5–6</a:t>
            </a:r>
            <a:endParaRPr/>
          </a:p>
        </p:txBody>
      </p:sp>
      <p:sp>
        <p:nvSpPr>
          <p:cNvPr id="279" name="Google Shape;279;p42"/>
          <p:cNvSpPr txBox="1"/>
          <p:nvPr/>
        </p:nvSpPr>
        <p:spPr>
          <a:xfrm>
            <a:off x="7150608" y="1371600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Mechanism test</a:t>
            </a:r>
            <a:endParaRPr/>
          </a:p>
        </p:txBody>
      </p:sp>
      <p:sp>
        <p:nvSpPr>
          <p:cNvPr id="280" name="Google Shape;280;p42"/>
          <p:cNvSpPr txBox="1"/>
          <p:nvPr/>
        </p:nvSpPr>
        <p:spPr>
          <a:xfrm>
            <a:off x="7150608" y="1682496"/>
            <a:ext cx="1600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Factorial Kv7.2/SK/BK sweep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Cross-species analysis</a:t>
            </a: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2075688" y="2670048"/>
            <a:ext cx="1143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0" u="none" cap="none" strike="noStrike">
                <a:solidFill>
                  <a:srgbClr val="D6DFE2"/>
                </a:solidFill>
                <a:latin typeface="Arial"/>
                <a:ea typeface="Arial"/>
                <a:cs typeface="Arial"/>
                <a:sym typeface="Arial"/>
              </a:rPr>
              <a:t>Months 2–3</a:t>
            </a:r>
            <a:endParaRPr/>
          </a:p>
        </p:txBody>
      </p:sp>
      <p:sp>
        <p:nvSpPr>
          <p:cNvPr id="282" name="Google Shape;282;p42"/>
          <p:cNvSpPr txBox="1"/>
          <p:nvPr/>
        </p:nvSpPr>
        <p:spPr>
          <a:xfrm>
            <a:off x="2075688" y="2816352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Kv7.2 channel</a:t>
            </a:r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2075688" y="3127248"/>
            <a:ext cx="1600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WT and R581Q models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Channel-level validation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 to Simkin et al. data using OBI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multi-objective EA</a:t>
            </a:r>
            <a:endParaRPr/>
          </a:p>
        </p:txBody>
      </p:sp>
      <p:sp>
        <p:nvSpPr>
          <p:cNvPr id="284" name="Google Shape;284;p42"/>
          <p:cNvSpPr txBox="1"/>
          <p:nvPr/>
        </p:nvSpPr>
        <p:spPr>
          <a:xfrm>
            <a:off x="5486400" y="2670048"/>
            <a:ext cx="1143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0" u="none" cap="none" strike="noStrike">
                <a:solidFill>
                  <a:srgbClr val="D6DFE2"/>
                </a:solidFill>
                <a:latin typeface="Arial"/>
                <a:ea typeface="Arial"/>
                <a:cs typeface="Arial"/>
                <a:sym typeface="Arial"/>
              </a:rPr>
              <a:t>Months 4–5</a:t>
            </a:r>
            <a:endParaRPr/>
          </a:p>
        </p:txBody>
      </p:sp>
      <p:sp>
        <p:nvSpPr>
          <p:cNvPr id="285" name="Google Shape;285;p42"/>
          <p:cNvSpPr txBox="1"/>
          <p:nvPr/>
        </p:nvSpPr>
        <p:spPr>
          <a:xfrm>
            <a:off x="5486400" y="2816352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Phenotype test</a:t>
            </a:r>
            <a:endParaRPr/>
          </a:p>
        </p:txBody>
      </p:sp>
      <p:sp>
        <p:nvSpPr>
          <p:cNvPr id="286" name="Google Shape;286;p42"/>
          <p:cNvSpPr txBox="1"/>
          <p:nvPr/>
        </p:nvSpPr>
        <p:spPr>
          <a:xfrm>
            <a:off x="5486400" y="3127248"/>
            <a:ext cx="1600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Reproduction and validation</a:t>
            </a:r>
            <a:b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the mutant phenotype</a:t>
            </a:r>
            <a:endParaRPr/>
          </a:p>
        </p:txBody>
      </p:sp>
      <p:sp>
        <p:nvSpPr>
          <p:cNvPr id="287" name="Google Shape;287;p42"/>
          <p:cNvSpPr/>
          <p:nvPr/>
        </p:nvSpPr>
        <p:spPr>
          <a:xfrm>
            <a:off x="502920" y="3977639"/>
            <a:ext cx="8092500" cy="12600"/>
          </a:xfrm>
          <a:prstGeom prst="rect">
            <a:avLst/>
          </a:prstGeom>
          <a:solidFill>
            <a:srgbClr val="69767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0" y="4782312"/>
            <a:ext cx="9144000" cy="3657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182880" y="4864608"/>
            <a:ext cx="438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Mechanistic Modelling of R581Q Mutation in Human</a:t>
            </a:r>
            <a:endParaRPr sz="1000"/>
          </a:p>
        </p:txBody>
      </p:sp>
      <p:sp>
        <p:nvSpPr>
          <p:cNvPr id="290" name="Google Shape;290;p42"/>
          <p:cNvSpPr txBox="1"/>
          <p:nvPr/>
        </p:nvSpPr>
        <p:spPr>
          <a:xfrm>
            <a:off x="7315200" y="4864608"/>
            <a:ext cx="146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Aman Ki Aasha</a:t>
            </a:r>
            <a:endParaRPr b="1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827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/>
        </p:nvSpPr>
        <p:spPr>
          <a:xfrm>
            <a:off x="2245075" y="1876325"/>
            <a:ext cx="4747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lt1"/>
                </a:solidFill>
              </a:rPr>
              <a:t>Thank You !</a:t>
            </a:r>
            <a:endParaRPr b="1" sz="3800">
              <a:solidFill>
                <a:schemeClr val="lt1"/>
              </a:solidFill>
            </a:endParaRPr>
          </a:p>
        </p:txBody>
      </p:sp>
      <p:sp>
        <p:nvSpPr>
          <p:cNvPr id="303" name="Google Shape;30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